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554480"/>
            <a:ext cx="4754880" cy="475488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108960" cy="3108960"/>
          </a:xfrm>
          <a:prstGeom prst="ellipse">
            <a:avLst/>
          </a:prstGeom>
          <a:solidFill>
            <a:srgbClr val="2C7A5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PROSPECTUS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8778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coalition's live command centre for climate &amp; environmental justice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MazingiraKenya is worth partnering with — and how it works for you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Convened by deCOALonize  ·  mazingirakenya.org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movement that can't see itself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Kenya's climate and environmental-justice actors are many, committed — and scattered. Knowledge, evidence and effort sit in silos.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5394960" cy="960120"/>
          </a:xfrm>
          <a:prstGeom prst="roundRect">
            <a:avLst>
              <a:gd name="adj" fmla="val 7619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268833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6151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picture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92608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sees all the pressures — coal, oil, nuclear, gold — and all the responders at once.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5394960" cy="960120"/>
          </a:xfrm>
          <a:prstGeom prst="roundRect">
            <a:avLst>
              <a:gd name="adj" fmla="val 7619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" y="383133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⋯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37581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that doesn't circulate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406908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court records stay locked in inboxes instead of building collective leverage.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754880"/>
            <a:ext cx="5394960" cy="960120"/>
          </a:xfrm>
          <a:prstGeom prst="roundRect">
            <a:avLst>
              <a:gd name="adj" fmla="val 7619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97433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4974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49011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nobody owns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521208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counties go uncovered because no one can see where the holes are.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246888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0F2A20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92240" y="283464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response gap is a fundable, closable thing — not a permanent condition.”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92240" y="4754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turns scattered field knowledge into one shared, living picture.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Kenya's live frontier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121408" cy="28346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1783080"/>
            <a:ext cx="502920" cy="50292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39572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Lamu plant halted 2019, upheld 2025 — but not closed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79776" y="1554480"/>
            <a:ext cx="2121408" cy="28346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02736" y="1783080"/>
            <a:ext cx="502920" cy="50292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0" name="Text 8"/>
          <p:cNvSpPr/>
          <p:nvPr/>
        </p:nvSpPr>
        <p:spPr>
          <a:xfrm>
            <a:off x="2916936" y="239572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62656" y="278892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EACOP &amp; a proposed Dangote refinery at Lamu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10912" y="1554480"/>
            <a:ext cx="2121408" cy="28346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833872" y="1783080"/>
            <a:ext cx="502920" cy="502920"/>
          </a:xfrm>
          <a:prstGeom prst="ellipse">
            <a:avLst/>
          </a:prstGeom>
          <a:solidFill>
            <a:srgbClr val="2C7A55"/>
          </a:solidFill>
          <a:ln/>
        </p:spPr>
      </p:sp>
      <p:sp>
        <p:nvSpPr>
          <p:cNvPr id="14" name="Text 12"/>
          <p:cNvSpPr/>
          <p:nvPr/>
        </p:nvSpPr>
        <p:spPr>
          <a:xfrm>
            <a:off x="5148072" y="239572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Nuclear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193792" y="278892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Siaya plant on Lake Victoria, sustained objection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42048" y="1554480"/>
            <a:ext cx="2121408" cy="28346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65008" y="1783080"/>
            <a:ext cx="502920" cy="50292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8" name="Text 16"/>
          <p:cNvSpPr/>
          <p:nvPr/>
        </p:nvSpPr>
        <p:spPr>
          <a:xfrm>
            <a:off x="7379208" y="239572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24928" y="278892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Illegal River Yala dredging; Senate ultimatum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473184" y="1554480"/>
            <a:ext cx="2121408" cy="28346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296144" y="1783080"/>
            <a:ext cx="502920" cy="50292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22" name="Text 20"/>
          <p:cNvSpPr/>
          <p:nvPr/>
        </p:nvSpPr>
        <p:spPr>
          <a:xfrm>
            <a:off x="9610344" y="239572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656064" y="2788920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rulebook caps overseas credit sales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live fronts, one coalition, one place to see them together.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MAZINGIRAKENYA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platform, three surfaces, three languages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1B6B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only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hub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coalition's coordination dashboard: intelligence, directory, legal tracker, resource exchange, petitions and a video convening space.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61104" y="160020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35424" y="187452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EE9455"/>
          </a:solidFill>
          <a:ln/>
        </p:spPr>
      </p:sp>
      <p:sp>
        <p:nvSpPr>
          <p:cNvPr id="11" name="Text 9"/>
          <p:cNvSpPr/>
          <p:nvPr/>
        </p:nvSpPr>
        <p:spPr>
          <a:xfrm>
            <a:off x="4535424" y="18745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35424" y="2286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9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raia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535424" y="297180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people's platform: plain-language explainers, disinformation debunks, community voices and public petition signing.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73568" y="160020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47888" y="187452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2C7A55"/>
          </a:solidFill>
          <a:ln/>
        </p:spPr>
      </p:sp>
      <p:sp>
        <p:nvSpPr>
          <p:cNvPr id="16" name="Text 14"/>
          <p:cNvSpPr/>
          <p:nvPr/>
        </p:nvSpPr>
        <p:spPr>
          <a:xfrm>
            <a:off x="8247888" y="18745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Secretariat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47888" y="2286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7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8247888" y="297180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console to keep everything current, moderated and secure.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· Kiswahili · Sheng  —  a live instrument, not a static report.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tools in one 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19656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74650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05740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map ranking every county by pressure and by response gap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61104" y="160020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62272" y="181965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1" name="Text 9"/>
          <p:cNvSpPr/>
          <p:nvPr/>
        </p:nvSpPr>
        <p:spPr>
          <a:xfrm>
            <a:off x="4462272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84064" y="174650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Pledges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84064" y="205740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index: financiers scored against their climate promises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160020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74736" y="1819656"/>
            <a:ext cx="457200" cy="457200"/>
          </a:xfrm>
          <a:prstGeom prst="ellipse">
            <a:avLst/>
          </a:prstGeom>
          <a:solidFill>
            <a:srgbClr val="2C7A55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796528" y="174650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796528" y="205740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tracker linked through to the Kenya Law reports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33756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3557016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71600" y="348386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71600" y="379476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coalition organisations, searchable and connectable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61104" y="333756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462272" y="355701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26" name="Text 24"/>
          <p:cNvSpPr/>
          <p:nvPr/>
        </p:nvSpPr>
        <p:spPr>
          <a:xfrm>
            <a:off x="4462272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084064" y="348386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Petitions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84064" y="379476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&amp; sign memoranda; gather public support on raia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73568" y="333756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74736" y="3557016"/>
            <a:ext cx="457200" cy="457200"/>
          </a:xfrm>
          <a:prstGeom prst="ellipse">
            <a:avLst/>
          </a:prstGeom>
          <a:solidFill>
            <a:srgbClr val="2C7A55"/>
          </a:solidFill>
          <a:ln/>
        </p:spPr>
      </p:sp>
      <p:sp>
        <p:nvSpPr>
          <p:cNvPr id="31" name="Text 29"/>
          <p:cNvSpPr/>
          <p:nvPr/>
        </p:nvSpPr>
        <p:spPr>
          <a:xfrm>
            <a:off x="8174736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796528" y="348386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96528" y="379476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video space to schedule and hold coalition calls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CONVENE · DECIDE · 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Coalition Room — where meetings produce action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40680" cy="3063240"/>
          </a:xfrm>
          <a:prstGeom prst="roundRect">
            <a:avLst>
              <a:gd name="adj" fmla="val 2388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83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to meet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2402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video room — no account, no install, no app store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call and members get an auto calendar invite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from any phone; runs on Jitsi in the browser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440680" cy="3063240"/>
          </a:xfrm>
          <a:prstGeom prst="roundRect">
            <a:avLst>
              <a:gd name="adj" fmla="val 2388"/>
            </a:avLst>
          </a:prstGeom>
          <a:solidFill>
            <a:srgbClr val="0F2A20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17830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in minutes, not weeks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37960" y="224028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decisions &amp; action items live — even by voice dictation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formatted PDF and share it before anyone leaves the call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record the session where your server allows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32004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5029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E9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weeks → 3 min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548640" y="55961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meeting to shared minutes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77640" y="4892040"/>
            <a:ext cx="7635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sector's quiet failure is minutes that arrive weeks late, with no clear action. The Coalition Room turns every call into a decision record and a next step — instantly — which is exactly why partners will convene here.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BROKERING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doesn't just list opportunities — it delivers them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2788920"/>
          </a:xfrm>
          <a:prstGeom prst="roundRect">
            <a:avLst>
              <a:gd name="adj" fmla="val 2623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65960" y="1828800"/>
            <a:ext cx="731520" cy="73152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6" name="Text 4"/>
          <p:cNvSpPr/>
          <p:nvPr/>
        </p:nvSpPr>
        <p:spPr>
          <a:xfrm>
            <a:off x="196596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10896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weekly watcher finds open grants, fellowships and accreditation windows for Kenya &amp; Africa — with deadlines, amounts and eligibility.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61104" y="1600200"/>
            <a:ext cx="3566160" cy="2788920"/>
          </a:xfrm>
          <a:prstGeom prst="roundRect">
            <a:avLst>
              <a:gd name="adj" fmla="val 2623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678424" y="1828800"/>
            <a:ext cx="731520" cy="73152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43984" y="2697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35424" y="310896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editor vets each one in the admin console. Nothing goes out unchecked.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1600200"/>
            <a:ext cx="3566160" cy="2788920"/>
          </a:xfrm>
          <a:prstGeom prst="roundRect">
            <a:avLst>
              <a:gd name="adj" fmla="val 2623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90888" y="1828800"/>
            <a:ext cx="731520" cy="73152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16" name="Text 14"/>
          <p:cNvSpPr/>
          <p:nvPr/>
        </p:nvSpPr>
        <p:spPr>
          <a:xfrm>
            <a:off x="9390888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156448" y="2697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&amp; notify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47888" y="310896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hub matches each opportunity to partners by focus area and emails the right organisations — automatically.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6344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0F2A20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7F0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an open call to the right inbox — automatically. The coalition stops missing funding it was eligible for, and partners stop hearing about opportunities only after they've closed.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USEFUL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information to leverage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73936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700784"/>
            <a:ext cx="10104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whole board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011680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pressure and every responder in one view — the picture no single org holds.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24912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2944368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2871216"/>
            <a:ext cx="10104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gaps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3182112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ranking that shows exactly where a marginal effort or grant counts most.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895344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4114800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4041648"/>
            <a:ext cx="10104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&amp; convene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4352544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Directory, resource exchange and one-click video calls keep the coalition moving together.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065776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5285232"/>
            <a:ext cx="457200" cy="45720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71600" y="5212080"/>
            <a:ext cx="10104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 &amp; mobilise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71600" y="5522976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Petitions, public debunks and social sharing turn evidence into pressure.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HOW YOU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friction, no training, no app store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1965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74650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phone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05740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like an app from the browser — a Progressive Web App, works on modest devices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61104" y="16002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62272" y="181965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1" name="Text 9"/>
          <p:cNvSpPr/>
          <p:nvPr/>
        </p:nvSpPr>
        <p:spPr>
          <a:xfrm>
            <a:off x="4462272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84064" y="174650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84064" y="205740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Caches so it opens fast and keeps working on a weak connection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16002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74736" y="181965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796528" y="174650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languages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796528" y="205740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Kiswahili and Sheng — meet people where they are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360273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71600" y="35295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Members-only &amp; secure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71600" y="384048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Invite-only sign-in; your coordination stays inside the coalition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61104" y="338328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462272" y="360273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26" name="Text 24"/>
          <p:cNvSpPr/>
          <p:nvPr/>
        </p:nvSpPr>
        <p:spPr>
          <a:xfrm>
            <a:off x="4462272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084064" y="35295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in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84064" y="384048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Magic-link or password sign-in — nothing to configure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73568" y="338328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74736" y="3602736"/>
            <a:ext cx="457200" cy="45720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31" name="Text 29"/>
          <p:cNvSpPr/>
          <p:nvPr/>
        </p:nvSpPr>
        <p:spPr>
          <a:xfrm>
            <a:off x="8174736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796528" y="35295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 &amp; honest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96528" y="384048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links to its source; no fabricated data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FUNDERS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marginal shilling moves the needle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ranks counties by response gap and the platform exports reach, coverage and engagement data — so you fund live programme activity, not a retrospective annual report.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5394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 documentation partner in a top-gap county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a live legal matter through to judgment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the coalition secretariat that keeps it current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0" y="1554480"/>
            <a:ext cx="2487168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92240" y="1719072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510528" y="2514600"/>
            <a:ext cx="2267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counties, one gap-ranked view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052560" y="1554480"/>
            <a:ext cx="2487168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144000" y="1719072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E9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9162288" y="2514600"/>
            <a:ext cx="2267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languages, public + members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0" y="3794760"/>
            <a:ext cx="513892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92240" y="3959352"/>
            <a:ext cx="4956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C7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510528" y="4754880"/>
            <a:ext cx="4919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· coverage · engagement, on demand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RECEIPTS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accountability index with sources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banks, oil majors and state financiers shaping Kenya's energy future — each measured against their own public climate promises, and scored, with sources to follow.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611880" cy="2834640"/>
          </a:xfrm>
          <a:prstGeom prst="roundRect">
            <a:avLst>
              <a:gd name="adj" fmla="val 258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29968" y="2697480"/>
            <a:ext cx="640080" cy="64008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429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4672" y="38862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 matched by action — e.g. a bank declining to finance EACOP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61104" y="2468880"/>
            <a:ext cx="3611880" cy="2834640"/>
          </a:xfrm>
          <a:prstGeom prst="roundRect">
            <a:avLst>
              <a:gd name="adj" fmla="val 258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742432" y="2697480"/>
            <a:ext cx="640080" cy="64008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1" name="Text 9"/>
          <p:cNvSpPr/>
          <p:nvPr/>
        </p:nvSpPr>
        <p:spPr>
          <a:xfrm>
            <a:off x="4443984" y="3429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17136" y="38862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movement, real gaps — e.g. a coal pledge with a legacy pipeline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73568" y="2468880"/>
            <a:ext cx="3611880" cy="2834640"/>
          </a:xfrm>
          <a:prstGeom prst="roundRect">
            <a:avLst>
              <a:gd name="adj" fmla="val 2581"/>
            </a:avLst>
          </a:prstGeom>
          <a:solidFill>
            <a:srgbClr val="F1F5F3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454896" y="2697480"/>
            <a:ext cx="640080" cy="640080"/>
          </a:xfrm>
          <a:prstGeom prst="ellipse">
            <a:avLst/>
          </a:prstGeom>
          <a:solidFill>
            <a:srgbClr val="EE9455"/>
          </a:solidFill>
          <a:ln/>
        </p:spPr>
      </p:sp>
      <p:sp>
        <p:nvSpPr>
          <p:cNvPr id="15" name="Text 13"/>
          <p:cNvSpPr/>
          <p:nvPr/>
        </p:nvSpPr>
        <p:spPr>
          <a:xfrm>
            <a:off x="8156448" y="3429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Lip-service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0" y="38862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claim, not conduct — e.g. “net zero” that ignores 85% of emissions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E9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PARTNER 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coalition already wins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90195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2019→25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697480"/>
            <a:ext cx="3346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Lamu coal licence revoked, then upheld by the courts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89120" y="190195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E9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60+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407408" y="2697480"/>
            <a:ext cx="3346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organisations, national institutes to community groups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9E2DC"/>
            </a:solidFill>
            <a:prstDash val="solid"/>
          </a:ln>
          <a:effectLst>
            <a:outerShdw sx="100000" sy="100000" kx="0" ky="0" algn="bl" rotWithShape="0" blurRad="76200" dist="25400" dir="5400000">
              <a:srgbClr val="9AA8A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38160" y="190195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C7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156448" y="2697480"/>
            <a:ext cx="3346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claims sourced; every case traceable to its record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38912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1D26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of Africa's landmark climate-litigation victories was built by this network. MazingiraKenya is how it coordinates the next one.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D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 · Partner prospectus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572000"/>
            <a:ext cx="4206240" cy="4206240"/>
          </a:xfrm>
          <a:prstGeom prst="ellipse">
            <a:avLst/>
          </a:prstGeom>
          <a:solidFill>
            <a:srgbClr val="1B6B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28016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 with MazingiraKenya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2834640"/>
            <a:ext cx="10424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Funders — see the gap map and the exportable data; fund where it counts most.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CSOs — get a hub invite, join the directory, put your work in the exchange.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Policymakers — use the legal record and the pledges index as a standing, sourced reference.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walkthrough or briefing at mazingirakenya.org.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mazingirakenya.org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MazingiraKenya</dc:creator>
  <cp:lastModifiedBy>MazingiraKenya</cp:lastModifiedBy>
  <cp:revision>1</cp:revision>
  <dcterms:created xsi:type="dcterms:W3CDTF">2026-08-18T13:49:18Z</dcterms:created>
  <dcterms:modified xsi:type="dcterms:W3CDTF">2026-08-18T13:49:18Z</dcterms:modified>
</cp:coreProperties>
</file>